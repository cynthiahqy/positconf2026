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when I wanted to procrasti-plot a calendar of an upcoming research trip across Europe and USA two years ago instead of working on my thesis, I naturally searched for a ggplot2 extension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so, I did end up procrasti-plotting an interactive calendar, that looks like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data wrangling:</a:t>
            </a:r>
          </a:p>
          <a:p>
            <a:pPr lvl="0" indent="0" marL="0">
              <a:buNone/>
            </a:pPr>
          </a:p>
          <a:p>
            <a:pPr lvl="1"/>
            <a:r>
              <a:rPr/>
              <a:t>reshaping via </a:t>
            </a:r>
            <a:r>
              <a:rPr>
                <a:latin typeface="Courier"/>
              </a:rPr>
              <a:t>reframe()</a:t>
            </a:r>
          </a:p>
          <a:p>
            <a:pPr lvl="0" indent="0" marL="0">
              <a:buNone/>
            </a:pPr>
          </a:p>
          <a:p>
            <a:pPr lvl="1"/>
            <a:r>
              <a:rPr/>
              <a:t>creating new variables</a:t>
            </a:r>
          </a:p>
          <a:p>
            <a:pPr lvl="0" indent="0" marL="0">
              <a:buNone/>
            </a:pPr>
          </a:p>
          <a:p>
            <a:pPr lvl="1"/>
            <a:r>
              <a:rPr/>
              <a:t>fill in missing days</a:t>
            </a:r>
          </a:p>
          <a:p>
            <a:pPr lvl="0" indent="0" marL="0">
              <a:buNone/>
            </a:pPr>
          </a:p>
          <a:p>
            <a:pPr lvl="1"/>
            <a:r>
              <a:rPr/>
              <a:t>calculating facet and layout (e.g. 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Month_week</a:t>
            </a:r>
            <a:r>
              <a:rPr/>
              <a:t>)</a:t>
            </a:r>
          </a:p>
          <a:p>
            <a:pPr lvl="0" indent="0" marL="0">
              <a:buNone/>
            </a:pPr>
          </a:p>
          <a:p>
            <a:pPr lvl="0"/>
            <a:r>
              <a:rPr>
                <a:latin typeface="Courier"/>
              </a:rPr>
              <a:t>ggplot2</a:t>
            </a:r>
            <a:r>
              <a:rPr/>
              <a:t> components:</a:t>
            </a:r>
          </a:p>
          <a:p>
            <a:pPr lvl="0" indent="0" marL="0">
              <a:buNone/>
            </a:pPr>
          </a:p>
          <a:p>
            <a:pPr lvl="1"/>
            <a:r>
              <a:rPr>
                <a:latin typeface="Courier"/>
              </a:rPr>
              <a:t>scale</a:t>
            </a:r>
            <a:r>
              <a:rPr/>
              <a:t>, </a:t>
            </a:r>
            <a:r>
              <a:rPr>
                <a:latin typeface="Courier"/>
              </a:rPr>
              <a:t>coord</a:t>
            </a:r>
            <a:r>
              <a:rPr/>
              <a:t> and </a:t>
            </a:r>
            <a:r>
              <a:rPr>
                <a:latin typeface="Courier"/>
              </a:rPr>
              <a:t>facet</a:t>
            </a:r>
            <a:r>
              <a:rPr/>
              <a:t> to layout the calendar</a:t>
            </a:r>
          </a:p>
          <a:p>
            <a:pPr lvl="0" indent="0" marL="0">
              <a:buNone/>
            </a:pPr>
          </a:p>
          <a:p>
            <a:pPr lvl="1"/>
            <a:r>
              <a:rPr>
                <a:latin typeface="Courier"/>
              </a:rPr>
              <a:t>theme</a:t>
            </a:r>
            <a:r>
              <a:rPr/>
              <a:t> modification to style the plot as a calendar</a:t>
            </a:r>
          </a:p>
          <a:p>
            <a:pPr lvl="0" indent="0" marL="0">
              <a:buNone/>
            </a:pPr>
          </a:p>
          <a:p>
            <a:pPr lvl="1"/>
            <a:r>
              <a:rPr/>
              <a:t>interactive </a:t>
            </a:r>
            <a:r>
              <a:rPr>
                <a:latin typeface="Courier"/>
              </a:rPr>
              <a:t>geom</a:t>
            </a:r>
            <a:r>
              <a:rPr/>
              <a:t> from </a:t>
            </a:r>
            <a:r>
              <a:rPr>
                <a:latin typeface="Courier"/>
              </a:rPr>
              <a:t>{ggiraph}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now, I hope my design for transparent helper functions is useful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image" Target="../media/image3.png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github.com/cynthiahqy/positconf2026" TargetMode="External" /><Relationship Id="rId3" Type="http://schemas.openxmlformats.org/officeDocument/2006/relationships/image" Target="../media/image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Reuse your custom ggplot2 with transparent helper functions!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Cynthia A. Huang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Backstory: calendars &amp; ggplot2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❤️</a:t>
            </a:r>
          </a:p>
          <a:p>
            <a:pPr lvl="0" indent="0" marL="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{calendR}</a:t>
            </a:r>
          </a:p>
        </p:txBody>
      </p:sp>
      <p:pic>
        <p:nvPicPr>
          <p:cNvPr descr="assets/code-blocks/calendR-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39900"/>
            <a:ext cx="4038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{ggweekly}</a:t>
            </a:r>
          </a:p>
        </p:txBody>
      </p:sp>
      <p:pic>
        <p:nvPicPr>
          <p:cNvPr descr="assets/code-blocks/ggweekly-README-year-week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625600"/>
            <a:ext cx="36957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{ggcal}</a:t>
            </a:r>
          </a:p>
        </p:txBody>
      </p:sp>
      <p:pic>
        <p:nvPicPr>
          <p:cNvPr descr="assets/code-blocks/ggcal-plot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35500" y="16637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{calendR}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calendR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Sys.Date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20794D"/>
                </a:solidFill>
                <a:latin typeface="Courier"/>
              </a:rPr>
              <a:t>"%Y"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orientation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"portrait"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"landscape"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special.days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special.col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"gray90"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font.family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font.style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"plain"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weeknames,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weeknames.col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weeknames.size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monthnames,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mbg.col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bg.col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bg.img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ncol,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"gray60"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doc_name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papersize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{ggweekly}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ggweek_planner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start_day =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today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end_day =</a:t>
            </a:r>
            <a:r>
              <a:rPr>
                <a:solidFill>
                  <a:srgbClr val="003B4F"/>
                </a:solidFill>
                <a:latin typeface="Courier"/>
              </a:rPr>
              <a:t> start_day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weeks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highlight_days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"isoweek"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"epiweek"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week_start_label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"month day"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"week"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show_day_numbers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show_month_start_day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show_month_boundaries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highlight_text_size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day_number_text_size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"#f78154"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day_number_color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weekend_fill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"#f8f8f8"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holidays =</a:t>
            </a:r>
            <a:r>
              <a:rPr>
                <a:solidFill>
                  <a:srgbClr val="003B4F"/>
                </a:solidFill>
                <a:latin typeface="Courier"/>
              </a:rPr>
              <a:t> ggweekly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us_federal_holidays,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"PT Sans"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font_label_family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"PT Sans Narrow"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font_label_text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screenshot_travel-calenda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247900" y="1193800"/>
            <a:ext cx="4635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 the design rabbit hole…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🤔</a:t>
            </a:r>
          </a:p>
          <a:p>
            <a:pPr lvl="0" indent="0" marL="0">
              <a:buNone/>
            </a:pP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procrasti-plotting to procrasti-packaging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reuseable-enough</a:t>
            </a:r>
            <a:r>
              <a:rPr/>
              <a:t> helper should:</a:t>
            </a:r>
          </a:p>
          <a:p>
            <a:pPr lvl="0"/>
            <a:r>
              <a:rPr b="1"/>
              <a:t>Convenient</a:t>
            </a:r>
            <a:r>
              <a:rPr/>
              <a:t> and quick ‘autoplotting’</a:t>
            </a:r>
          </a:p>
          <a:p>
            <a:pPr lvl="0"/>
            <a:r>
              <a:rPr/>
              <a:t>Keep ggplot </a:t>
            </a:r>
            <a:r>
              <a:rPr b="1"/>
              <a:t>flexibility</a:t>
            </a:r>
            <a:r>
              <a:rPr/>
              <a:t> &amp; error messages</a:t>
            </a:r>
          </a:p>
          <a:p>
            <a:pPr lvl="0"/>
            <a:r>
              <a:rPr/>
              <a:t>Play nice with </a:t>
            </a:r>
            <a:r>
              <a:rPr b="1"/>
              <a:t>compatible</a:t>
            </a:r>
            <a:r>
              <a:rPr/>
              <a:t> ggplot2 extensions</a:t>
            </a:r>
          </a:p>
          <a:p>
            <a:pPr lvl="0"/>
            <a:r>
              <a:rPr b="1"/>
              <a:t>Minimise plot-specific arguments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source(here::here("_utilities/travel_dates_load.R"))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(ggiraph)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daily-loc-prep ----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expand dates: https://stackoverflow.com/a/54728153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travel_days &lt;- travel_dates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nights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interval</a:t>
            </a:r>
            <a:r>
              <a:rPr>
                <a:solidFill>
                  <a:srgbClr val="003B4F"/>
                </a:solidFill>
                <a:latin typeface="Courier"/>
              </a:rPr>
              <a:t>(startDate, endDate)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(startDate,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(nights))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rowid_to_column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details, nights,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nights,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country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countryname</a:t>
            </a:r>
            <a:r>
              <a:rPr>
                <a:solidFill>
                  <a:srgbClr val="003B4F"/>
                </a:solidFill>
                <a:latin typeface="Courier"/>
              </a:rPr>
              <a:t>(location,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away_days &lt;- travel_days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rowid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daily_loc &lt;- away_days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(travel_days,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(travel_days)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"unicode.symbol"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continent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"continent"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 route"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"\u2708"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"❔"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flag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prep-full-calendar-data 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based on: https://github.com/nrennie/tidytuesday/blob/9dbe69d696f6c1edad41a72d157a42f3b5a63a81/2023/2023-03-07/20230307.R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extra months to make plot rectangular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cal_ncol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endMonth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n_extra_month &lt;- cal_ncol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((endMonth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startMonth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cal_ncol)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padding_days &lt;-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travel_days,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%m+%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months</a:t>
            </a:r>
            <a:r>
              <a:rPr>
                <a:solidFill>
                  <a:srgbClr val="003B4F"/>
                </a:solidFill>
                <a:latin typeface="Courier"/>
              </a:rPr>
              <a:t>(n_extra_month),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calendar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full_calendar &lt;- padding_days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(daily_loc,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(daily_loc)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mday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Month_week 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%/%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travel-dates-calendar-display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base_data_aes &lt;- full_calendar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Day,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Month_week))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layers_geom_text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mday),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flag),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layers_scale_coord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layers_facet_labs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vars</a:t>
            </a:r>
            <a:r>
              <a:rPr>
                <a:solidFill>
                  <a:srgbClr val="003B4F"/>
                </a:solidFill>
                <a:latin typeface="Courier"/>
              </a:rPr>
              <a:t>(Month),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cal_ncol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layers_theme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margin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panel.spacing = unit(0, "lines"),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"grey95"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strip.text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tooltip-travel-calendar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p_cal_girafe &lt;- base_data_aes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geom_tile_interactive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tooltip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(details, </a:t>
            </a:r>
            <a:r>
              <a:rPr>
                <a:solidFill>
                  <a:srgbClr val="20794D"/>
                </a:solidFill>
                <a:latin typeface="Courier"/>
              </a:rPr>
              <a:t>"@"</a:t>
            </a:r>
            <a:r>
              <a:rPr>
                <a:solidFill>
                  <a:srgbClr val="003B4F"/>
                </a:solidFill>
                <a:latin typeface="Courier"/>
              </a:rPr>
              <a:t>, location),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data_id =</a:t>
            </a:r>
            <a:r>
              <a:rPr>
                <a:solidFill>
                  <a:srgbClr val="003B4F"/>
                </a:solidFill>
                <a:latin typeface="Courier"/>
              </a:rPr>
              <a:t> location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layers_geom_text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layers_facet_labs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layers_theme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girafe(ggobj = p_cal_girafe)</a:t>
            </a:r>
          </a:p>
        </p:txBody>
      </p:sp>
      <p:pic>
        <p:nvPicPr>
          <p:cNvPr descr="assets/notability-v2/pipeline-assembly-inpu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19200"/>
            <a:ext cx="4038600" cy="335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 into MODULAR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gg_facet_wrap_months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(...){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Data Prep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cal_data &lt;- .events_long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fill_missing_units</a:t>
            </a:r>
            <a:r>
              <a:rPr>
                <a:solidFill>
                  <a:srgbClr val="003B4F"/>
                </a:solidFill>
                <a:latin typeface="Courier"/>
              </a:rPr>
              <a:t>({{ date_col }})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calc_calendar_vars</a:t>
            </a:r>
            <a:r>
              <a:rPr>
                <a:solidFill>
                  <a:srgbClr val="003B4F"/>
                </a:solidFill>
                <a:latin typeface="Courier"/>
              </a:rPr>
              <a:t>({{ date_col }})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Plot Assembly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base_plot &lt;- cal_data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ggplot2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mapping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aes_string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"TC_wday_label"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"TC_month_week"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"TC_mday"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"TC_month_label"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axes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"all_x"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nrow,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ncol)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.geom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.theme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.others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base_plot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EXPOSE</a:t>
            </a:r>
          </a:p>
        </p:txBody>
      </p:sp>
      <p:pic>
        <p:nvPicPr>
          <p:cNvPr descr="assets/notability-v2/transparent-helper-le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data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.events_long,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date_col,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facets / layout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default layers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.scale_coord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.theme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theme_bw_tilecal</a:t>
            </a:r>
            <a:r>
              <a:rPr>
                <a:solidFill>
                  <a:srgbClr val="003B4F"/>
                </a:solidFill>
                <a:latin typeface="Courier"/>
              </a:rPr>
              <a:t>()),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.other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(ggtilecal)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dates &lt;- </a:t>
            </a:r>
            <a:r>
              <a:rPr>
                <a:solidFill>
                  <a:srgbClr val="4758AB"/>
                </a:solidFill>
                <a:latin typeface="Courier"/>
              </a:rPr>
              <a:t>make_empty_month_days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"2024-01-05"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"2024-06-30"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unit_date)</a:t>
            </a:r>
          </a:p>
        </p:txBody>
      </p:sp>
      <p:pic>
        <p:nvPicPr>
          <p:cNvPr descr="slides-v2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(ggtilecal)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dates &lt;- </a:t>
            </a:r>
            <a:r>
              <a:rPr>
                <a:solidFill>
                  <a:srgbClr val="4758AB"/>
                </a:solidFill>
                <a:latin typeface="Courier"/>
              </a:rPr>
              <a:t>make_empty_month_days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"2024-01-05"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"2024-06-30"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(dates, unit_date,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"#6a329f"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.theme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theme_bw_tilecal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"#d9d2e9"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</a:p>
        </p:txBody>
      </p:sp>
      <p:pic>
        <p:nvPicPr>
          <p:cNvPr descr="slides-v2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Explain:</a:t>
            </a:r>
          </a:p>
          <a:p>
            <a:pPr lvl="0" indent="-342900" marL="342900">
              <a:buAutoNum type="arabicPeriod"/>
            </a:pPr>
            <a:r>
              <a:rPr/>
              <a:t>Data preparation steps</a:t>
            </a:r>
          </a:p>
          <a:p>
            <a:pPr lvl="0" indent="-342900" marL="342900">
              <a:buAutoNum type="arabicPeriod"/>
            </a:pPr>
            <a:r>
              <a:rPr/>
              <a:t>How the ggplot2 recipe works</a:t>
            </a:r>
          </a:p>
          <a:p>
            <a:pPr lvl="0" indent="-342900" marL="342900">
              <a:buAutoNum type="arabicPeriod"/>
            </a:pPr>
            <a:r>
              <a:rPr/>
              <a:t>How to modify the plot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Reusing ggplot2 happily ever after?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for listening!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more thoughts and ideas about reusing ggplot2 code: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https://github.com/cynthiahqy/positconf2026</a:t>
            </a:r>
          </a:p>
          <a:p>
            <a:pPr lvl="0"/>
            <a:r>
              <a:rPr/>
              <a:t>blog post comparing calendar extensions</a:t>
            </a:r>
          </a:p>
          <a:p>
            <a:pPr lvl="0"/>
            <a:r>
              <a:rPr/>
              <a:t>slides for this talk</a:t>
            </a:r>
          </a:p>
          <a:p>
            <a:pPr lvl="0"/>
            <a:r>
              <a:rPr/>
              <a:t>(untested) ggplot2 refactoring skill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Please tell me about your ggplot2 reuse experiences!</a:t>
            </a:r>
          </a:p>
        </p:txBody>
      </p:sp>
      <p:pic>
        <p:nvPicPr>
          <p:cNvPr descr="assets/qr-positconf2026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81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Reuse your custom ggplot2 with transparent helper functions!</dc:title>
  <dc:creator>Cynthia A. Huang</dc:creator>
  <cp:keywords/>
  <dcterms:created xsi:type="dcterms:W3CDTF">2026-09-14T23:15:29Z</dcterms:created>
  <dcterms:modified xsi:type="dcterms:W3CDTF">2026-09-14T23:15:29Z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